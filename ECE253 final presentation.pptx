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5"/>
    <p:sldMasterId id="214748368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Teko SemiBold"/>
      <p:regular r:id="rId20"/>
      <p:bold r:id="rId21"/>
    </p:embeddedFont>
    <p:embeddedFont>
      <p:font typeface="Teko"/>
      <p:regular r:id="rId22"/>
      <p:bold r:id="rId23"/>
    </p:embeddedFont>
    <p:embeddedFont>
      <p:font typeface="Source Sans 3 SemiBold"/>
      <p:regular r:id="rId24"/>
      <p:bold r:id="rId25"/>
      <p:italic r:id="rId26"/>
      <p:boldItalic r:id="rId27"/>
    </p:embeddedFont>
    <p:embeddedFont>
      <p:font typeface="Source Sans 3 Medium"/>
      <p:regular r:id="rId28"/>
      <p:bold r:id="rId29"/>
      <p:italic r:id="rId30"/>
      <p:boldItalic r:id="rId31"/>
    </p:embeddedFont>
    <p:embeddedFont>
      <p:font typeface="Source Sans 3"/>
      <p:regular r:id="rId32"/>
      <p:bold r:id="rId33"/>
      <p:italic r:id="rId34"/>
      <p:boldItalic r:id="rId35"/>
    </p:embeddedFont>
    <p:embeddedFont>
      <p:font typeface="Teko Medium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2F5010-77A9-4283-B61E-E8D6CD8B7724}">
  <a:tblStyle styleId="{122F5010-77A9-4283-B61E-E8D6CD8B77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ekoSemiBold-regular.fntdata"/><Relationship Id="rId22" Type="http://schemas.openxmlformats.org/officeDocument/2006/relationships/font" Target="fonts/Teko-regular.fntdata"/><Relationship Id="rId21" Type="http://schemas.openxmlformats.org/officeDocument/2006/relationships/font" Target="fonts/TekoSemiBold-bold.fntdata"/><Relationship Id="rId24" Type="http://schemas.openxmlformats.org/officeDocument/2006/relationships/font" Target="fonts/SourceSans3SemiBold-regular.fntdata"/><Relationship Id="rId23" Type="http://schemas.openxmlformats.org/officeDocument/2006/relationships/font" Target="fonts/Tek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SourceSans3SemiBold-italic.fntdata"/><Relationship Id="rId25" Type="http://schemas.openxmlformats.org/officeDocument/2006/relationships/font" Target="fonts/SourceSans3SemiBold-bold.fntdata"/><Relationship Id="rId28" Type="http://schemas.openxmlformats.org/officeDocument/2006/relationships/font" Target="fonts/SourceSans3Medium-regular.fntdata"/><Relationship Id="rId27" Type="http://schemas.openxmlformats.org/officeDocument/2006/relationships/font" Target="fonts/SourceSans3SemiBold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SourceSans3Medium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ourceSans3Medium-boldItalic.fntdata"/><Relationship Id="rId30" Type="http://schemas.openxmlformats.org/officeDocument/2006/relationships/font" Target="fonts/SourceSans3Medium-italic.fntdata"/><Relationship Id="rId11" Type="http://schemas.openxmlformats.org/officeDocument/2006/relationships/slide" Target="slides/slide4.xml"/><Relationship Id="rId33" Type="http://schemas.openxmlformats.org/officeDocument/2006/relationships/font" Target="fonts/SourceSans3-bold.fntdata"/><Relationship Id="rId10" Type="http://schemas.openxmlformats.org/officeDocument/2006/relationships/slide" Target="slides/slide3.xml"/><Relationship Id="rId32" Type="http://schemas.openxmlformats.org/officeDocument/2006/relationships/font" Target="fonts/SourceSans3-regular.fntdata"/><Relationship Id="rId13" Type="http://schemas.openxmlformats.org/officeDocument/2006/relationships/slide" Target="slides/slide6.xml"/><Relationship Id="rId35" Type="http://schemas.openxmlformats.org/officeDocument/2006/relationships/font" Target="fonts/SourceSans3-boldItalic.fntdata"/><Relationship Id="rId12" Type="http://schemas.openxmlformats.org/officeDocument/2006/relationships/slide" Target="slides/slide5.xml"/><Relationship Id="rId34" Type="http://schemas.openxmlformats.org/officeDocument/2006/relationships/font" Target="fonts/SourceSans3-italic.fntdata"/><Relationship Id="rId15" Type="http://schemas.openxmlformats.org/officeDocument/2006/relationships/slide" Target="slides/slide8.xml"/><Relationship Id="rId37" Type="http://schemas.openxmlformats.org/officeDocument/2006/relationships/font" Target="fonts/TekoMedium-bold.fntdata"/><Relationship Id="rId14" Type="http://schemas.openxmlformats.org/officeDocument/2006/relationships/slide" Target="slides/slide7.xml"/><Relationship Id="rId36" Type="http://schemas.openxmlformats.org/officeDocument/2006/relationships/font" Target="fonts/TekoMedium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924248c55_2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g3a924248c55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924248c55_2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g3a924248c55_2_1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924248c55_2_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a924248c55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924248c55_2_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a924248c55_2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924248c55_2_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3a924248c55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6da130c12_5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g3a6da130c12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9294b80f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a9294b80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fec08e26a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afec08e26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6da130c1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6da130c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6da130c12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g3a6da130c12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6da130c12_4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a6da130c12_4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924248c55_2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a924248c55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Numbered">
  <p:cSld name="Agenda Numbered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>
            <p:ph idx="1" type="body"/>
          </p:nvPr>
        </p:nvSpPr>
        <p:spPr>
          <a:xfrm>
            <a:off x="452438" y="1309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2" name="Google Shape;62;p15"/>
          <p:cNvSpPr/>
          <p:nvPr>
            <p:ph idx="2" type="body"/>
          </p:nvPr>
        </p:nvSpPr>
        <p:spPr>
          <a:xfrm>
            <a:off x="452438" y="18940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3" name="Google Shape;63;p15"/>
          <p:cNvSpPr/>
          <p:nvPr>
            <p:ph idx="3" type="body"/>
          </p:nvPr>
        </p:nvSpPr>
        <p:spPr>
          <a:xfrm>
            <a:off x="452438" y="24788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4" name="Google Shape;64;p15"/>
          <p:cNvSpPr/>
          <p:nvPr>
            <p:ph idx="4" type="body"/>
          </p:nvPr>
        </p:nvSpPr>
        <p:spPr>
          <a:xfrm>
            <a:off x="452438" y="3648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5" name="Google Shape;65;p15"/>
          <p:cNvSpPr/>
          <p:nvPr>
            <p:ph idx="5" type="body"/>
          </p:nvPr>
        </p:nvSpPr>
        <p:spPr>
          <a:xfrm>
            <a:off x="452438" y="30635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6" name="Google Shape;66;p15"/>
          <p:cNvSpPr/>
          <p:nvPr>
            <p:ph idx="6" type="body"/>
          </p:nvPr>
        </p:nvSpPr>
        <p:spPr>
          <a:xfrm>
            <a:off x="4716645" y="1309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7" name="Google Shape;67;p15"/>
          <p:cNvSpPr/>
          <p:nvPr>
            <p:ph idx="7" type="body"/>
          </p:nvPr>
        </p:nvSpPr>
        <p:spPr>
          <a:xfrm>
            <a:off x="4716645" y="18940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8" name="Google Shape;68;p15"/>
          <p:cNvSpPr/>
          <p:nvPr>
            <p:ph idx="8" type="body"/>
          </p:nvPr>
        </p:nvSpPr>
        <p:spPr>
          <a:xfrm>
            <a:off x="4716645" y="24788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9" name="Google Shape;69;p15"/>
          <p:cNvSpPr/>
          <p:nvPr>
            <p:ph idx="9" type="body"/>
          </p:nvPr>
        </p:nvSpPr>
        <p:spPr>
          <a:xfrm>
            <a:off x="4716645" y="3648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70" name="Google Shape;70;p15"/>
          <p:cNvSpPr/>
          <p:nvPr>
            <p:ph idx="13" type="body"/>
          </p:nvPr>
        </p:nvSpPr>
        <p:spPr>
          <a:xfrm>
            <a:off x="4716645" y="30635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5"/>
          <p:cNvSpPr txBox="1"/>
          <p:nvPr>
            <p:ph idx="14" type="subTitle"/>
          </p:nvPr>
        </p:nvSpPr>
        <p:spPr>
          <a:xfrm>
            <a:off x="951200" y="1302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5" type="subTitle"/>
          </p:nvPr>
        </p:nvSpPr>
        <p:spPr>
          <a:xfrm>
            <a:off x="951200" y="18868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6" type="subTitle"/>
          </p:nvPr>
        </p:nvSpPr>
        <p:spPr>
          <a:xfrm>
            <a:off x="951200" y="24716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7" type="subTitle"/>
          </p:nvPr>
        </p:nvSpPr>
        <p:spPr>
          <a:xfrm>
            <a:off x="951200" y="30563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8" type="subTitle"/>
          </p:nvPr>
        </p:nvSpPr>
        <p:spPr>
          <a:xfrm>
            <a:off x="951200" y="3641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9" type="subTitle"/>
          </p:nvPr>
        </p:nvSpPr>
        <p:spPr>
          <a:xfrm>
            <a:off x="5215425" y="1302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20" type="subTitle"/>
          </p:nvPr>
        </p:nvSpPr>
        <p:spPr>
          <a:xfrm>
            <a:off x="5215425" y="18868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21" type="subTitle"/>
          </p:nvPr>
        </p:nvSpPr>
        <p:spPr>
          <a:xfrm>
            <a:off x="5215425" y="24716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22" type="subTitle"/>
          </p:nvPr>
        </p:nvSpPr>
        <p:spPr>
          <a:xfrm>
            <a:off x="5215425" y="30563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23" type="subTitle"/>
          </p:nvPr>
        </p:nvSpPr>
        <p:spPr>
          <a:xfrm>
            <a:off x="5215425" y="3641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 type="title">
  <p:cSld name="TITLE"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>
            <p:ph idx="2" type="pic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457200" y="1057275"/>
            <a:ext cx="8229599" cy="17119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eko SemiBold"/>
              <a:buNone/>
              <a:defRPr sz="52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457200" y="2782650"/>
            <a:ext cx="8229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3 SemiBold"/>
              <a:buNone/>
              <a:defRPr sz="1800">
                <a:solidFill>
                  <a:schemeClr val="lt1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3" type="subTitle"/>
          </p:nvPr>
        </p:nvSpPr>
        <p:spPr>
          <a:xfrm>
            <a:off x="461400" y="4429125"/>
            <a:ext cx="8229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RIght">
  <p:cSld name="Photo RIgh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457200" y="402336"/>
            <a:ext cx="3657599" cy="653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57075" y="1300175"/>
            <a:ext cx="3657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 showMasterSp="0" type="tx">
  <p:cSld name="TITLE_AND_BODY"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 rotWithShape="1">
          <a:blip r:embed="rId2">
            <a:alphaModFix/>
          </a:blip>
          <a:srcRect b="0" l="0" r="0" t="91691"/>
          <a:stretch/>
        </p:blipFill>
        <p:spPr>
          <a:xfrm>
            <a:off x="1850" y="4718049"/>
            <a:ext cx="9144000" cy="42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457200" y="400050"/>
            <a:ext cx="82296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Teko SemiBold"/>
              <a:buNone/>
              <a:defRPr sz="4800">
                <a:solidFill>
                  <a:schemeClr val="lt2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" showMasterSp="0">
  <p:cSld name="Title &amp; Photo"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9" name="Google Shape;109;p22"/>
          <p:cNvPicPr preferRelativeResize="0"/>
          <p:nvPr/>
        </p:nvPicPr>
        <p:blipFill rotWithShape="1">
          <a:blip r:embed="rId2">
            <a:alphaModFix/>
          </a:blip>
          <a:srcRect b="0" l="0" r="0" t="91898"/>
          <a:stretch/>
        </p:blipFill>
        <p:spPr>
          <a:xfrm>
            <a:off x="1850" y="4728697"/>
            <a:ext cx="9144000" cy="41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/>
          <p:cNvPicPr preferRelativeResize="0"/>
          <p:nvPr/>
        </p:nvPicPr>
        <p:blipFill rotWithShape="1">
          <a:blip r:embed="rId3">
            <a:alphaModFix/>
          </a:blip>
          <a:srcRect b="79429" l="0" r="0" t="26"/>
          <a:stretch/>
        </p:blipFill>
        <p:spPr>
          <a:xfrm>
            <a:off x="1850" y="0"/>
            <a:ext cx="91403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/>
          <p:nvPr>
            <p:ph idx="3" type="pic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2"/>
          <p:cNvSpPr txBox="1"/>
          <p:nvPr>
            <p:ph type="title"/>
          </p:nvPr>
        </p:nvSpPr>
        <p:spPr>
          <a:xfrm>
            <a:off x="457200" y="2263818"/>
            <a:ext cx="822960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eko SemiBold"/>
              <a:buNone/>
              <a:defRPr sz="52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450450" y="412900"/>
            <a:ext cx="5400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4" type="subTitle"/>
          </p:nvPr>
        </p:nvSpPr>
        <p:spPr>
          <a:xfrm>
            <a:off x="450450" y="4020350"/>
            <a:ext cx="8229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3 SemiBold"/>
              <a:buNone/>
              <a:defRPr sz="1800">
                <a:solidFill>
                  <a:schemeClr val="lt1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imple">
  <p:cSld name="Agenda Simp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457075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Alt">
  <p:cSld name="Title &amp; Photo Al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4"/>
          <p:cNvSpPr txBox="1"/>
          <p:nvPr>
            <p:ph type="title"/>
          </p:nvPr>
        </p:nvSpPr>
        <p:spPr>
          <a:xfrm>
            <a:off x="5001965" y="813547"/>
            <a:ext cx="3684834" cy="175820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4"/>
          <p:cNvSpPr txBox="1"/>
          <p:nvPr>
            <p:ph idx="1" type="subTitle"/>
          </p:nvPr>
        </p:nvSpPr>
        <p:spPr>
          <a:xfrm>
            <a:off x="5001975" y="2641600"/>
            <a:ext cx="36849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Source Sans 3 Medium"/>
              <a:buNone/>
              <a:defRPr sz="1700">
                <a:latin typeface="Source Sans 3 Medium"/>
                <a:ea typeface="Source Sans 3 Medium"/>
                <a:cs typeface="Source Sans 3 Medium"/>
                <a:sym typeface="Source Sans 3 Medium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 showMasterSp="0">
  <p:cSld name="Section"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/>
          <p:cNvPicPr preferRelativeResize="0"/>
          <p:nvPr/>
        </p:nvPicPr>
        <p:blipFill rotWithShape="1">
          <a:blip r:embed="rId2">
            <a:alphaModFix/>
          </a:blip>
          <a:srcRect b="0" l="0" r="0" t="91691"/>
          <a:stretch/>
        </p:blipFill>
        <p:spPr>
          <a:xfrm>
            <a:off x="1850" y="4718049"/>
            <a:ext cx="9144000" cy="42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type="title"/>
          </p:nvPr>
        </p:nvSpPr>
        <p:spPr>
          <a:xfrm>
            <a:off x="457200" y="1522413"/>
            <a:ext cx="8229599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i="0" sz="48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457200" y="1300163"/>
            <a:ext cx="8229600" cy="3128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lumns">
  <p:cSld name="Title &amp; 2 Column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>
            <a:off x="457200" y="1300175"/>
            <a:ext cx="39504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2" type="body"/>
          </p:nvPr>
        </p:nvSpPr>
        <p:spPr>
          <a:xfrm>
            <a:off x="4736400" y="1300175"/>
            <a:ext cx="39504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39" name="Google Shape;139;p28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act">
  <p:cSld name="Big Fac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9"/>
          <p:cNvSpPr txBox="1"/>
          <p:nvPr>
            <p:ph type="title"/>
          </p:nvPr>
        </p:nvSpPr>
        <p:spPr>
          <a:xfrm>
            <a:off x="457200" y="891100"/>
            <a:ext cx="8229600" cy="23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/>
        </p:txBody>
      </p:sp>
      <p:sp>
        <p:nvSpPr>
          <p:cNvPr id="143" name="Google Shape;143;p29"/>
          <p:cNvSpPr txBox="1"/>
          <p:nvPr>
            <p:ph idx="1" type="subTitle"/>
          </p:nvPr>
        </p:nvSpPr>
        <p:spPr>
          <a:xfrm>
            <a:off x="457200" y="3098325"/>
            <a:ext cx="8229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911259" y="3558795"/>
            <a:ext cx="7575020" cy="238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None/>
              <a:defRPr sz="1150"/>
            </a:lvl1pPr>
            <a:lvl2pPr indent="-301625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2pPr>
            <a:lvl3pPr indent="-301625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3pPr>
            <a:lvl4pPr indent="-301625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4pPr>
            <a:lvl5pPr indent="-301625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5pPr>
            <a:lvl6pPr indent="-301625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6pPr>
            <a:lvl7pPr indent="-301625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7pPr>
            <a:lvl8pPr indent="-301625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8pPr>
            <a:lvl9pPr indent="-301625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9pPr>
          </a:lstStyle>
          <a:p/>
        </p:txBody>
      </p:sp>
      <p:sp>
        <p:nvSpPr>
          <p:cNvPr id="146" name="Google Shape;146;p30"/>
          <p:cNvSpPr txBox="1"/>
          <p:nvPr>
            <p:ph idx="2" type="body"/>
          </p:nvPr>
        </p:nvSpPr>
        <p:spPr>
          <a:xfrm>
            <a:off x="657721" y="1057275"/>
            <a:ext cx="7828558" cy="22337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None/>
              <a:defRPr i="0"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1pPr>
            <a:lvl2pPr indent="-4318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Char char="•"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2pPr>
            <a:lvl3pPr indent="-4318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Char char="•"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3pPr>
            <a:lvl4pPr indent="-4318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Char char="•"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None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5pPr>
            <a:lvl6pPr indent="-4318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6pPr>
            <a:lvl7pPr indent="-4318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7pPr>
            <a:lvl8pPr indent="-4318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8pPr>
            <a:lvl9pPr indent="-4318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9pPr>
          </a:lstStyle>
          <a:p/>
        </p:txBody>
      </p:sp>
      <p:sp>
        <p:nvSpPr>
          <p:cNvPr id="147" name="Google Shape;147;p30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/>
          <p:nvPr>
            <p:ph idx="2" type="pic"/>
          </p:nvPr>
        </p:nvSpPr>
        <p:spPr>
          <a:xfrm>
            <a:off x="5910262" y="2647500"/>
            <a:ext cx="2776538" cy="2019774"/>
          </a:xfrm>
          <a:prstGeom prst="roundRect">
            <a:avLst>
              <a:gd fmla="val 4810" name="adj"/>
            </a:avLst>
          </a:prstGeom>
          <a:noFill/>
          <a:ln>
            <a:noFill/>
          </a:ln>
        </p:spPr>
      </p:sp>
      <p:sp>
        <p:nvSpPr>
          <p:cNvPr id="150" name="Google Shape;150;p31"/>
          <p:cNvSpPr/>
          <p:nvPr>
            <p:ph idx="3" type="pic"/>
          </p:nvPr>
        </p:nvSpPr>
        <p:spPr>
          <a:xfrm>
            <a:off x="5910262" y="452296"/>
            <a:ext cx="2776538" cy="2019774"/>
          </a:xfrm>
          <a:prstGeom prst="roundRect">
            <a:avLst>
              <a:gd fmla="val 4810" name="adj"/>
            </a:avLst>
          </a:prstGeom>
          <a:noFill/>
          <a:ln>
            <a:noFill/>
          </a:ln>
        </p:spPr>
      </p:sp>
      <p:sp>
        <p:nvSpPr>
          <p:cNvPr id="151" name="Google Shape;151;p31"/>
          <p:cNvSpPr/>
          <p:nvPr>
            <p:ph idx="4" type="pic"/>
          </p:nvPr>
        </p:nvSpPr>
        <p:spPr>
          <a:xfrm>
            <a:off x="457200" y="452628"/>
            <a:ext cx="5291100" cy="4214700"/>
          </a:xfrm>
          <a:prstGeom prst="roundRect">
            <a:avLst>
              <a:gd fmla="val 2254" name="adj"/>
            </a:avLst>
          </a:prstGeom>
          <a:noFill/>
          <a:ln>
            <a:noFill/>
          </a:ln>
        </p:spPr>
      </p:sp>
      <p:sp>
        <p:nvSpPr>
          <p:cNvPr id="152" name="Google Shape;152;p31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me Only">
  <p:cSld name="Frame 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75"/>
              <a:buNone/>
              <a:defRPr/>
            </a:lvl9pPr>
          </a:lstStyle>
          <a:p/>
        </p:txBody>
      </p:sp>
      <p:sp>
        <p:nvSpPr>
          <p:cNvPr id="160" name="Google Shape;16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61" name="Google Shape;16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2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32.xml"/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8.xml"/><Relationship Id="rId6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8763" cy="514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8833" y="240172"/>
            <a:ext cx="1377803" cy="25833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300163"/>
            <a:ext cx="8229600" cy="3128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eko SemiBold"/>
              <a:buNone/>
              <a:defRPr b="0" i="0" sz="3400" u="none" cap="none" strike="noStrike">
                <a:solidFill>
                  <a:schemeClr val="dk1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jpg"/><Relationship Id="rId4" Type="http://schemas.openxmlformats.org/officeDocument/2006/relationships/image" Target="../media/image14.jp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"/>
          <p:cNvSpPr txBox="1"/>
          <p:nvPr>
            <p:ph type="ctrTitle"/>
          </p:nvPr>
        </p:nvSpPr>
        <p:spPr>
          <a:xfrm>
            <a:off x="504825" y="494665"/>
            <a:ext cx="8133715" cy="328104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>
                <a:latin typeface="Georgia"/>
                <a:ea typeface="Georgia"/>
                <a:cs typeface="Georgia"/>
                <a:sym typeface="Georgia"/>
              </a:rPr>
              <a:t>A UNIFIED COMPARATIVE FRAMEWORK FOR CLASSICAL AND</a:t>
            </a:r>
            <a:br>
              <a:rPr lang="en" sz="3600">
                <a:latin typeface="Georgia"/>
                <a:ea typeface="Georgia"/>
                <a:cs typeface="Georgia"/>
                <a:sym typeface="Georgia"/>
              </a:rPr>
            </a:br>
            <a:r>
              <a:rPr lang="en" sz="3600">
                <a:latin typeface="Georgia"/>
                <a:ea typeface="Georgia"/>
                <a:cs typeface="Georgia"/>
                <a:sym typeface="Georgia"/>
              </a:rPr>
              <a:t> LEARNING-BASED IMAGE RESTORATION: </a:t>
            </a:r>
            <a:br>
              <a:rPr lang="en" sz="3600">
                <a:latin typeface="Georgia"/>
                <a:ea typeface="Georgia"/>
                <a:cs typeface="Georgia"/>
                <a:sym typeface="Georgia"/>
              </a:rPr>
            </a:br>
            <a:r>
              <a:rPr lang="en" sz="3600">
                <a:latin typeface="Georgia"/>
                <a:ea typeface="Georgia"/>
                <a:cs typeface="Georgia"/>
                <a:sym typeface="Georgia"/>
              </a:rPr>
              <a:t>DEHAZING, DEBLURRING, AND DENOISING</a:t>
            </a:r>
            <a:br>
              <a:rPr lang="en" sz="3600">
                <a:latin typeface="Georgia"/>
                <a:ea typeface="Georgia"/>
                <a:cs typeface="Georgia"/>
                <a:sym typeface="Georgia"/>
              </a:rPr>
            </a:b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35"/>
          <p:cNvSpPr txBox="1"/>
          <p:nvPr/>
        </p:nvSpPr>
        <p:spPr>
          <a:xfrm>
            <a:off x="2795550" y="3775700"/>
            <a:ext cx="622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latin typeface="Microsoft Yahei"/>
                <a:ea typeface="Microsoft Yahei"/>
                <a:cs typeface="Microsoft Yahei"/>
                <a:sym typeface="Microsoft Yahei"/>
              </a:rPr>
              <a:t>G56: </a:t>
            </a:r>
            <a:r>
              <a:rPr b="0" i="0" lang="en" sz="20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Jiangrong Liu, Tiancheng Chen, Xinli Xiang</a:t>
            </a:r>
            <a:endParaRPr b="0" i="0" sz="20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/>
          <p:nvPr>
            <p:ph idx="1" type="body"/>
          </p:nvPr>
        </p:nvSpPr>
        <p:spPr>
          <a:xfrm>
            <a:off x="452438" y="1309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73" name="Google Shape;173;p36"/>
          <p:cNvSpPr/>
          <p:nvPr>
            <p:ph idx="2" type="body"/>
          </p:nvPr>
        </p:nvSpPr>
        <p:spPr>
          <a:xfrm>
            <a:off x="452438" y="18940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74" name="Google Shape;174;p36"/>
          <p:cNvSpPr/>
          <p:nvPr>
            <p:ph idx="3" type="body"/>
          </p:nvPr>
        </p:nvSpPr>
        <p:spPr>
          <a:xfrm>
            <a:off x="452438" y="24788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75" name="Google Shape;175;p36"/>
          <p:cNvSpPr/>
          <p:nvPr>
            <p:ph idx="4" type="body"/>
          </p:nvPr>
        </p:nvSpPr>
        <p:spPr>
          <a:xfrm>
            <a:off x="452438" y="3648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76" name="Google Shape;176;p36"/>
          <p:cNvSpPr/>
          <p:nvPr>
            <p:ph idx="5" type="body"/>
          </p:nvPr>
        </p:nvSpPr>
        <p:spPr>
          <a:xfrm>
            <a:off x="452438" y="30635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77" name="Google Shape;177;p36"/>
          <p:cNvSpPr txBox="1"/>
          <p:nvPr>
            <p:ph type="title"/>
          </p:nvPr>
        </p:nvSpPr>
        <p:spPr>
          <a:xfrm>
            <a:off x="457200" y="400061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178" name="Google Shape;178;p36"/>
          <p:cNvSpPr txBox="1"/>
          <p:nvPr>
            <p:ph idx="14" type="subTitle"/>
          </p:nvPr>
        </p:nvSpPr>
        <p:spPr>
          <a:xfrm>
            <a:off x="951200" y="1274413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Problems / Challenges</a:t>
            </a:r>
            <a:endParaRPr/>
          </a:p>
        </p:txBody>
      </p:sp>
      <p:sp>
        <p:nvSpPr>
          <p:cNvPr id="179" name="Google Shape;179;p36"/>
          <p:cNvSpPr txBox="1"/>
          <p:nvPr>
            <p:ph idx="15" type="subTitle"/>
          </p:nvPr>
        </p:nvSpPr>
        <p:spPr>
          <a:xfrm>
            <a:off x="951200" y="18868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180" name="Google Shape;180;p36"/>
          <p:cNvSpPr txBox="1"/>
          <p:nvPr>
            <p:ph idx="16" type="subTitle"/>
          </p:nvPr>
        </p:nvSpPr>
        <p:spPr>
          <a:xfrm>
            <a:off x="951200" y="24716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Simulation Results</a:t>
            </a:r>
            <a:endParaRPr/>
          </a:p>
        </p:txBody>
      </p:sp>
      <p:sp>
        <p:nvSpPr>
          <p:cNvPr id="181" name="Google Shape;181;p36"/>
          <p:cNvSpPr txBox="1"/>
          <p:nvPr>
            <p:ph idx="17" type="subTitle"/>
          </p:nvPr>
        </p:nvSpPr>
        <p:spPr>
          <a:xfrm>
            <a:off x="951200" y="30563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Comparison &amp; Discussion</a:t>
            </a:r>
            <a:endParaRPr/>
          </a:p>
        </p:txBody>
      </p:sp>
      <p:sp>
        <p:nvSpPr>
          <p:cNvPr id="182" name="Google Shape;182;p36"/>
          <p:cNvSpPr txBox="1"/>
          <p:nvPr>
            <p:ph idx="18" type="subTitle"/>
          </p:nvPr>
        </p:nvSpPr>
        <p:spPr>
          <a:xfrm>
            <a:off x="951200" y="3641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Future work &amp; </a:t>
            </a: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300" y="3132700"/>
            <a:ext cx="2270575" cy="15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Problems / Challenges （S</a:t>
            </a:r>
            <a:r>
              <a:rPr lang="en"/>
              <a:t>chool situation</a:t>
            </a:r>
            <a:r>
              <a:rPr lang="en"/>
              <a:t>）</a:t>
            </a:r>
            <a:endParaRPr/>
          </a:p>
        </p:txBody>
      </p:sp>
      <p:sp>
        <p:nvSpPr>
          <p:cNvPr id="189" name="Google Shape;189;p37"/>
          <p:cNvSpPr txBox="1"/>
          <p:nvPr/>
        </p:nvSpPr>
        <p:spPr>
          <a:xfrm>
            <a:off x="70675" y="910000"/>
            <a:ext cx="2410800" cy="1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1: Dehazing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Outdoor/indoor images often suffer from haze due to </a:t>
            </a:r>
            <a:r>
              <a:rPr b="1" i="0" lang="en" u="none" cap="none" strike="noStrike">
                <a:solidFill>
                  <a:srgbClr val="000000"/>
                </a:solidFill>
              </a:rPr>
              <a:t>scattering of light by atmospheric</a:t>
            </a:r>
            <a:r>
              <a:rPr b="0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particles.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Haze reduces visibility, contrast, and color fidelity 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37"/>
          <p:cNvSpPr txBox="1"/>
          <p:nvPr/>
        </p:nvSpPr>
        <p:spPr>
          <a:xfrm>
            <a:off x="5707725" y="925450"/>
            <a:ext cx="29727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Challenge 3: Denoising</a:t>
            </a:r>
            <a:endParaRPr b="1" sz="16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 I</a:t>
            </a:r>
            <a:r>
              <a:rPr lang="en"/>
              <a:t>mages suffer from </a:t>
            </a:r>
            <a:r>
              <a:rPr b="1" lang="en"/>
              <a:t>sensor noise</a:t>
            </a:r>
            <a:r>
              <a:rPr lang="en"/>
              <a:t>, especially under low light and high ISO.</a:t>
            </a:r>
            <a:br>
              <a:rPr lang="en"/>
            </a:b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7"/>
          <p:cNvSpPr txBox="1"/>
          <p:nvPr/>
        </p:nvSpPr>
        <p:spPr>
          <a:xfrm>
            <a:off x="2802250" y="910000"/>
            <a:ext cx="25332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Challenge 2: Deblurring</a:t>
            </a:r>
            <a:endParaRPr sz="1600"/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 </a:t>
            </a:r>
            <a:r>
              <a:rPr lang="en"/>
              <a:t>The blur is typically caused by camera shake, defocus, and </a:t>
            </a:r>
            <a:r>
              <a:rPr b="1" lang="en"/>
              <a:t>moving objects</a:t>
            </a:r>
            <a:endParaRPr/>
          </a:p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 Mainly focus on blind deblurring</a:t>
            </a:r>
            <a:endParaRPr/>
          </a:p>
        </p:txBody>
      </p:sp>
      <p:pic>
        <p:nvPicPr>
          <p:cNvPr id="192" name="Google Shape;19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575" y="3486600"/>
            <a:ext cx="2181225" cy="121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8550" y="3132700"/>
            <a:ext cx="1460600" cy="15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7"/>
          <p:cNvSpPr txBox="1"/>
          <p:nvPr/>
        </p:nvSpPr>
        <p:spPr>
          <a:xfrm>
            <a:off x="140175" y="2709100"/>
            <a:ext cx="218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scene visibility &amp; color fidelity</a:t>
            </a:r>
            <a:endParaRPr b="1" sz="1600">
              <a:solidFill>
                <a:srgbClr val="FF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5" name="Google Shape;195;p37"/>
          <p:cNvSpPr txBox="1"/>
          <p:nvPr/>
        </p:nvSpPr>
        <p:spPr>
          <a:xfrm>
            <a:off x="2889188" y="2455600"/>
            <a:ext cx="2410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</a:t>
            </a:r>
            <a:r>
              <a:rPr b="1" lang="en" sz="1600">
                <a:solidFill>
                  <a:srgbClr val="FF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harp </a:t>
            </a:r>
            <a:r>
              <a:rPr b="1" lang="en" sz="1600">
                <a:solidFill>
                  <a:srgbClr val="FF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 </a:t>
            </a:r>
            <a:r>
              <a:rPr b="1" lang="en" sz="1600">
                <a:solidFill>
                  <a:srgbClr val="FF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interpretable structures</a:t>
            </a:r>
            <a:endParaRPr/>
          </a:p>
        </p:txBody>
      </p:sp>
      <p:sp>
        <p:nvSpPr>
          <p:cNvPr id="196" name="Google Shape;196;p37"/>
          <p:cNvSpPr txBox="1"/>
          <p:nvPr/>
        </p:nvSpPr>
        <p:spPr>
          <a:xfrm>
            <a:off x="5739176" y="1926075"/>
            <a:ext cx="259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sensor-induced distortions </a:t>
            </a:r>
            <a:endParaRPr/>
          </a:p>
        </p:txBody>
      </p:sp>
      <p:pic>
        <p:nvPicPr>
          <p:cNvPr id="197" name="Google Shape;19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7725" y="2745836"/>
            <a:ext cx="3041850" cy="1615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203" name="Google Shape;203;p38"/>
          <p:cNvSpPr txBox="1"/>
          <p:nvPr/>
        </p:nvSpPr>
        <p:spPr>
          <a:xfrm>
            <a:off x="0" y="885750"/>
            <a:ext cx="3235200" cy="3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1: Dehazing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1.</a:t>
            </a:r>
            <a:r>
              <a:rPr b="1" lang="en" sz="1200"/>
              <a:t> Dark Channel Prior (DCP)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Physics-based, no training required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Uses dark channel assumption to estimate transmission map and atmospheric light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Strong generalization to real-world haze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2. AOD-Net (Deep Learning)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Lightweight CNN trained on synthetic haze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Directly learns mapping from hazy image to clean image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Fast inference, good performance on synthetic data</a:t>
            </a:r>
            <a:endParaRPr sz="1200"/>
          </a:p>
        </p:txBody>
      </p:sp>
      <p:sp>
        <p:nvSpPr>
          <p:cNvPr id="204" name="Google Shape;204;p38"/>
          <p:cNvSpPr txBox="1"/>
          <p:nvPr/>
        </p:nvSpPr>
        <p:spPr>
          <a:xfrm>
            <a:off x="3197775" y="885750"/>
            <a:ext cx="2630700" cy="3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</a:t>
            </a:r>
            <a:r>
              <a:rPr b="1" lang="en"/>
              <a:t>2</a:t>
            </a:r>
            <a:r>
              <a:rPr b="1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</a:t>
            </a:r>
            <a:r>
              <a:rPr b="1" lang="en"/>
              <a:t>blurr</a:t>
            </a:r>
            <a:r>
              <a:rPr b="1" i="0" lang="en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1. Unnatural L0 Sparse Representation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/>
              <a:t>Sharpens images by enforcing sparsity on gradient magnitudes. 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/>
              <a:t>Produces an "unnatural representation" that stabilizes kernel estimation.</a:t>
            </a:r>
            <a:endParaRPr sz="12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en" sz="1200"/>
              <a:t>Internal Patch Recurrence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/>
              <a:t>E</a:t>
            </a:r>
            <a:r>
              <a:rPr lang="en" sz="1200"/>
              <a:t>xploits the fact that sharp images exhibit strong cross-scale patch similarity. 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/>
              <a:t>Restores fine structures that sparsity-based models often lose by matching patches between an image and its downscaled version.</a:t>
            </a:r>
            <a:endParaRPr sz="1200"/>
          </a:p>
        </p:txBody>
      </p:sp>
      <p:sp>
        <p:nvSpPr>
          <p:cNvPr id="205" name="Google Shape;205;p38"/>
          <p:cNvSpPr txBox="1"/>
          <p:nvPr/>
        </p:nvSpPr>
        <p:spPr>
          <a:xfrm>
            <a:off x="6068100" y="846475"/>
            <a:ext cx="2942400" cy="28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/>
              <a:t>Challenge 3: Denoising</a:t>
            </a:r>
            <a:r>
              <a:rPr b="1" lang="en" sz="1200"/>
              <a:t>. 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200"/>
              <a:t>1</a:t>
            </a:r>
            <a:r>
              <a:rPr b="1" lang="en" sz="1200"/>
              <a:t>. </a:t>
            </a:r>
            <a:r>
              <a:rPr b="1" lang="en" sz="1200"/>
              <a:t>Multi-Wavelet Shrinkage (Classical)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DWT decomposition + soft-thresholding.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Uses multiple wavelets (db2/db4/sym8) for robustness.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2. SVR Denoising (Classical Learning)</a:t>
            </a:r>
            <a:endParaRPr b="1"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Patch-based regression using Support Vector Regression.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Learns nonlinear mapping from noisy patches to clean intensities.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Requires patch extraction + model training.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/>
              <a:t>3. DnCNN (Deep Learning)</a:t>
            </a:r>
            <a:endParaRPr b="1"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/>
              <a:t>Residual CNN predicting noise component directly.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Strongest performance expected.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Requires dataset, GPU training, and careful tuning.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State-of-the-art baseline for final comparison.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/>
          <p:nvPr>
            <p:ph type="title"/>
          </p:nvPr>
        </p:nvSpPr>
        <p:spPr>
          <a:xfrm>
            <a:off x="83311" y="217258"/>
            <a:ext cx="81051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35947"/>
              <a:buNone/>
            </a:pPr>
            <a:r>
              <a:rPr lang="en"/>
              <a:t>Simulation results</a:t>
            </a:r>
            <a:endParaRPr/>
          </a:p>
        </p:txBody>
      </p:sp>
      <p:sp>
        <p:nvSpPr>
          <p:cNvPr id="211" name="Google Shape;211;p39"/>
          <p:cNvSpPr txBox="1"/>
          <p:nvPr/>
        </p:nvSpPr>
        <p:spPr>
          <a:xfrm>
            <a:off x="0" y="624250"/>
            <a:ext cx="2603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1: Dehazing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/>
              <a:t>Dataset: RESIDE (with ground truth, to evaluate </a:t>
            </a: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PSNR / SSIM)</a:t>
            </a:r>
            <a:r>
              <a:rPr lang="en" sz="1200"/>
              <a:t> and O-HAZE + self-captured (no ground truth, to evaluate </a:t>
            </a: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NIQE / BRISQUE) </a:t>
            </a:r>
            <a:endParaRPr sz="1200"/>
          </a:p>
        </p:txBody>
      </p:sp>
      <p:pic>
        <p:nvPicPr>
          <p:cNvPr id="212" name="Google Shape;212;p39" title="hi.png"/>
          <p:cNvPicPr preferRelativeResize="0"/>
          <p:nvPr/>
        </p:nvPicPr>
        <p:blipFill rotWithShape="1">
          <a:blip r:embed="rId3">
            <a:alphaModFix/>
          </a:blip>
          <a:srcRect b="2503" l="1941" r="0" t="4792"/>
          <a:stretch/>
        </p:blipFill>
        <p:spPr>
          <a:xfrm>
            <a:off x="2615401" y="0"/>
            <a:ext cx="6528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title"/>
          </p:nvPr>
        </p:nvSpPr>
        <p:spPr>
          <a:xfrm>
            <a:off x="222386" y="279708"/>
            <a:ext cx="81051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35947"/>
              <a:buNone/>
            </a:pPr>
            <a:r>
              <a:rPr lang="en"/>
              <a:t>Comparison &amp; Discussion </a:t>
            </a:r>
            <a:endParaRPr/>
          </a:p>
        </p:txBody>
      </p:sp>
      <p:sp>
        <p:nvSpPr>
          <p:cNvPr id="218" name="Google Shape;218;p40"/>
          <p:cNvSpPr txBox="1"/>
          <p:nvPr/>
        </p:nvSpPr>
        <p:spPr>
          <a:xfrm>
            <a:off x="2" y="658425"/>
            <a:ext cx="335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</a:t>
            </a:r>
            <a:r>
              <a:rPr b="1" lang="en" sz="1700"/>
              <a:t>1</a:t>
            </a: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</a:t>
            </a:r>
            <a:r>
              <a:rPr b="1" lang="en" sz="1700"/>
              <a:t>haz</a:t>
            </a:r>
            <a:r>
              <a:rPr b="1" lang="en" sz="1700"/>
              <a:t>ing</a:t>
            </a:r>
            <a:endParaRPr sz="1300"/>
          </a:p>
        </p:txBody>
      </p:sp>
      <p:sp>
        <p:nvSpPr>
          <p:cNvPr id="219" name="Google Shape;219;p40"/>
          <p:cNvSpPr txBox="1"/>
          <p:nvPr/>
        </p:nvSpPr>
        <p:spPr>
          <a:xfrm>
            <a:off x="5144875" y="1848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20" name="Google Shape;220;p40"/>
          <p:cNvSpPr txBox="1"/>
          <p:nvPr/>
        </p:nvSpPr>
        <p:spPr>
          <a:xfrm>
            <a:off x="0" y="937725"/>
            <a:ext cx="54456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Observation</a:t>
            </a:r>
            <a:r>
              <a:rPr b="1" lang="en" sz="1500"/>
              <a:t>:</a:t>
            </a:r>
            <a:endParaRPr b="1" sz="15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0D0D0D"/>
                </a:solidFill>
                <a:highlight>
                  <a:srgbClr val="FFFFFF"/>
                </a:highlight>
              </a:rPr>
              <a:t>DCP restores strong contrast and sharp details, but introduces slight color oversaturation and halo artifacts near edges.</a:t>
            </a:r>
            <a:endParaRPr sz="13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" sz="1300">
                <a:solidFill>
                  <a:srgbClr val="0D0D0D"/>
                </a:solidFill>
                <a:highlight>
                  <a:srgbClr val="FFFFFF"/>
                </a:highlight>
              </a:rPr>
              <a:t> AOD-Net produces a more natural color tone and smoother transitions, though fine details are slightly less sharp than DCP.</a:t>
            </a:r>
            <a:endParaRPr sz="13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" sz="1300">
                <a:solidFill>
                  <a:srgbClr val="0D0D0D"/>
                </a:solidFill>
                <a:highlight>
                  <a:srgbClr val="FFFFFF"/>
                </a:highlight>
              </a:rPr>
              <a:t> Overall, AOD-Net better preserves global color fidelity, while DCP emphasizes local contrast at the cost of minor visual artifacts.</a:t>
            </a:r>
            <a:endParaRPr sz="1300"/>
          </a:p>
        </p:txBody>
      </p:sp>
      <p:sp>
        <p:nvSpPr>
          <p:cNvPr id="221" name="Google Shape;221;p40"/>
          <p:cNvSpPr txBox="1"/>
          <p:nvPr/>
        </p:nvSpPr>
        <p:spPr>
          <a:xfrm>
            <a:off x="0" y="2827775"/>
            <a:ext cx="54456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Statistics:</a:t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en" sz="1300">
                <a:solidFill>
                  <a:srgbClr val="0D0D0D"/>
                </a:solidFill>
                <a:highlight>
                  <a:srgbClr val="FFFFFF"/>
                </a:highlight>
              </a:rPr>
              <a:t>On synthetic outdoor haze, default DCP method achieved lower PSNR and SSIM, but tuned DCP slightly outperformed after parameter optimization.</a:t>
            </a:r>
            <a:endParaRPr sz="13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>
                <a:solidFill>
                  <a:srgbClr val="0D0D0D"/>
                </a:solidFill>
                <a:highlight>
                  <a:srgbClr val="FFFFFF"/>
                </a:highlight>
              </a:rPr>
              <a:t> On real-world haze (O-HAZE), DCP demonstrates better perceptual quality according to no-reference metrics.</a:t>
            </a:r>
            <a:endParaRPr sz="13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Char char="•"/>
            </a:pPr>
            <a:r>
              <a:rPr lang="en" sz="1300">
                <a:solidFill>
                  <a:srgbClr val="0D0D0D"/>
                </a:solidFill>
                <a:highlight>
                  <a:srgbClr val="FFFFFF"/>
                </a:highlight>
              </a:rPr>
              <a:t> Fine-tuning played an important role in optimization.</a:t>
            </a:r>
            <a:endParaRPr sz="13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222" name="Google Shape;222;p40" title="1.png"/>
          <p:cNvPicPr preferRelativeResize="0"/>
          <p:nvPr/>
        </p:nvPicPr>
        <p:blipFill rotWithShape="1">
          <a:blip r:embed="rId3">
            <a:alphaModFix/>
          </a:blip>
          <a:srcRect b="0" l="5945" r="8867" t="5882"/>
          <a:stretch/>
        </p:blipFill>
        <p:spPr>
          <a:xfrm>
            <a:off x="5591225" y="0"/>
            <a:ext cx="3552774" cy="245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0" title="3 (1).png"/>
          <p:cNvPicPr preferRelativeResize="0"/>
          <p:nvPr/>
        </p:nvPicPr>
        <p:blipFill rotWithShape="1">
          <a:blip r:embed="rId4">
            <a:alphaModFix/>
          </a:blip>
          <a:srcRect b="0" l="5728" r="9776" t="6428"/>
          <a:stretch/>
        </p:blipFill>
        <p:spPr>
          <a:xfrm>
            <a:off x="5684925" y="2489775"/>
            <a:ext cx="3459074" cy="265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/>
          <p:nvPr>
            <p:ph type="title"/>
          </p:nvPr>
        </p:nvSpPr>
        <p:spPr>
          <a:xfrm>
            <a:off x="222386" y="279708"/>
            <a:ext cx="81051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35947"/>
              <a:buNone/>
            </a:pPr>
            <a:r>
              <a:rPr lang="en"/>
              <a:t>Simulation results</a:t>
            </a:r>
            <a:r>
              <a:rPr lang="en"/>
              <a:t> </a:t>
            </a:r>
            <a:endParaRPr/>
          </a:p>
        </p:txBody>
      </p:sp>
      <p:sp>
        <p:nvSpPr>
          <p:cNvPr id="229" name="Google Shape;229;p41"/>
          <p:cNvSpPr txBox="1"/>
          <p:nvPr/>
        </p:nvSpPr>
        <p:spPr>
          <a:xfrm>
            <a:off x="122631" y="859350"/>
            <a:ext cx="457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</a:t>
            </a:r>
            <a:r>
              <a:rPr b="1" lang="en" sz="1600"/>
              <a:t>2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</a:t>
            </a:r>
            <a:r>
              <a:rPr b="1" lang="en" sz="1600"/>
              <a:t>blurring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/>
              <a:t>Sun et al. dataset., 10 ground-truth image * 8 blur kernel</a:t>
            </a:r>
            <a:endParaRPr sz="12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 Xu et al.’s method: PSNR 26-31dB, SSIM 0.84-0.89</a:t>
            </a:r>
            <a:endParaRPr sz="12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 Michaeli et al.’s method: PSNR 26-33dB, SSIM 0.81-0.88</a:t>
            </a:r>
            <a:endParaRPr sz="1200"/>
          </a:p>
        </p:txBody>
      </p:sp>
      <p:sp>
        <p:nvSpPr>
          <p:cNvPr id="230" name="Google Shape;230;p41"/>
          <p:cNvSpPr txBox="1"/>
          <p:nvPr/>
        </p:nvSpPr>
        <p:spPr>
          <a:xfrm>
            <a:off x="4812925" y="1688375"/>
            <a:ext cx="3561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525" lIns="108525" spcFirstLastPara="1" rIns="108525" wrap="square" tIns="108525">
            <a:spAutoFit/>
          </a:bodyPr>
          <a:lstStyle/>
          <a:p>
            <a:pPr indent="0" lvl="0" marL="542798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62"/>
          </a:p>
        </p:txBody>
      </p:sp>
      <p:sp>
        <p:nvSpPr>
          <p:cNvPr id="231" name="Google Shape;231;p41"/>
          <p:cNvSpPr txBox="1"/>
          <p:nvPr/>
        </p:nvSpPr>
        <p:spPr>
          <a:xfrm>
            <a:off x="4781731" y="1077050"/>
            <a:ext cx="457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/>
              <a:t>Real-world</a:t>
            </a:r>
            <a:r>
              <a:rPr lang="en" sz="1200"/>
              <a:t>. dataset., photos shot by us</a:t>
            </a:r>
            <a:endParaRPr sz="12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 </a:t>
            </a:r>
            <a:r>
              <a:rPr lang="en" sz="1200"/>
              <a:t>Use Naturalness Image Quality Evaluator (NIQE) as a no-reference metric</a:t>
            </a:r>
            <a:endParaRPr sz="1200"/>
          </a:p>
        </p:txBody>
      </p:sp>
      <p:pic>
        <p:nvPicPr>
          <p:cNvPr id="232" name="Google Shape;232;p41" title="4_i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925" y="2635158"/>
            <a:ext cx="1817719" cy="1314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1" title="4_xu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3651" y="1917955"/>
            <a:ext cx="1817719" cy="131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1" title="img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000" y="2648777"/>
            <a:ext cx="1718792" cy="1302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1" title="img1_kernel1_MichaeliAndIrani_im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49594" y="3244892"/>
            <a:ext cx="1718792" cy="130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1" title="img1_kernel1_Xu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49594" y="1941301"/>
            <a:ext cx="1718792" cy="1302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1" title="4_michael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73650" y="3227850"/>
            <a:ext cx="1824140" cy="13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 txBox="1"/>
          <p:nvPr>
            <p:ph type="title"/>
          </p:nvPr>
        </p:nvSpPr>
        <p:spPr>
          <a:xfrm>
            <a:off x="222386" y="279708"/>
            <a:ext cx="81051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35947"/>
              <a:buNone/>
            </a:pPr>
            <a:r>
              <a:rPr lang="en"/>
              <a:t>Comparison &amp; Discussion </a:t>
            </a:r>
            <a:endParaRPr/>
          </a:p>
        </p:txBody>
      </p:sp>
      <p:sp>
        <p:nvSpPr>
          <p:cNvPr id="243" name="Google Shape;243;p42"/>
          <p:cNvSpPr txBox="1"/>
          <p:nvPr/>
        </p:nvSpPr>
        <p:spPr>
          <a:xfrm>
            <a:off x="122631" y="859350"/>
            <a:ext cx="457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</a:t>
            </a:r>
            <a:r>
              <a:rPr b="1" lang="en" sz="1600"/>
              <a:t>2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</a:t>
            </a:r>
            <a:r>
              <a:rPr b="1" lang="en" sz="1600"/>
              <a:t>blurring</a:t>
            </a:r>
            <a:endParaRPr sz="1200"/>
          </a:p>
        </p:txBody>
      </p:sp>
      <p:sp>
        <p:nvSpPr>
          <p:cNvPr id="244" name="Google Shape;244;p42"/>
          <p:cNvSpPr txBox="1"/>
          <p:nvPr/>
        </p:nvSpPr>
        <p:spPr>
          <a:xfrm>
            <a:off x="5144875" y="1848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pSp>
        <p:nvGrpSpPr>
          <p:cNvPr id="245" name="Google Shape;245;p42"/>
          <p:cNvGrpSpPr/>
          <p:nvPr/>
        </p:nvGrpSpPr>
        <p:grpSpPr>
          <a:xfrm>
            <a:off x="155774" y="1478593"/>
            <a:ext cx="4219810" cy="3148634"/>
            <a:chOff x="152400" y="1719750"/>
            <a:chExt cx="3910853" cy="2918104"/>
          </a:xfrm>
        </p:grpSpPr>
        <p:pic>
          <p:nvPicPr>
            <p:cNvPr id="246" name="Google Shape;246;p42" title="avg_psnr_vs_image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719750"/>
              <a:ext cx="1955427" cy="1459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42" title="avg_psnr_vs_kerne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07825" y="1719750"/>
              <a:ext cx="1955427" cy="1459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42" title="avg_ssim_vs_imag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2405" y="3178799"/>
              <a:ext cx="1955423" cy="1459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42" title="avg_ssim_vs_kernel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107826" y="3178800"/>
              <a:ext cx="1955427" cy="145905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0" name="Google Shape;250;p42" title="NIQE Comparison of Real-world image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56377" y="2277462"/>
            <a:ext cx="2330625" cy="193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2"/>
          <p:cNvSpPr txBox="1"/>
          <p:nvPr/>
        </p:nvSpPr>
        <p:spPr>
          <a:xfrm>
            <a:off x="4781726" y="1077050"/>
            <a:ext cx="3720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/>
              <a:t>Xu et al.’s method: stable and robust, particularly on defocus blur.</a:t>
            </a:r>
            <a:endParaRPr sz="12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 Michaeli et al.’s method: excels at recovering textures and performs better with motion blur.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36675" y="437300"/>
            <a:ext cx="5709324" cy="24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3"/>
          <p:cNvSpPr txBox="1"/>
          <p:nvPr>
            <p:ph type="title"/>
          </p:nvPr>
        </p:nvSpPr>
        <p:spPr>
          <a:xfrm>
            <a:off x="222386" y="279708"/>
            <a:ext cx="81051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35947"/>
              <a:buNone/>
            </a:pPr>
            <a:r>
              <a:rPr lang="en"/>
              <a:t>Simulation results</a:t>
            </a:r>
            <a:endParaRPr/>
          </a:p>
        </p:txBody>
      </p:sp>
      <p:sp>
        <p:nvSpPr>
          <p:cNvPr id="258" name="Google Shape;258;p43"/>
          <p:cNvSpPr txBox="1"/>
          <p:nvPr/>
        </p:nvSpPr>
        <p:spPr>
          <a:xfrm>
            <a:off x="122619" y="659075"/>
            <a:ext cx="457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</a:t>
            </a:r>
            <a:r>
              <a:rPr b="1" lang="en" sz="1600"/>
              <a:t>3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</a:t>
            </a:r>
            <a:r>
              <a:rPr b="1" lang="en" sz="1600"/>
              <a:t>noising（</a:t>
            </a:r>
            <a:r>
              <a:rPr b="1" lang="en" sz="1300"/>
              <a:t>Noise Level σ = 25</a:t>
            </a:r>
            <a:r>
              <a:rPr b="1" lang="en" sz="1600"/>
              <a:t>）</a:t>
            </a:r>
            <a:r>
              <a:rPr b="1" i="0" lang="en" sz="1200" u="none" cap="none" strike="noStrike">
                <a:solidFill>
                  <a:srgbClr val="000000"/>
                </a:solidFill>
              </a:rPr>
              <a:t> </a:t>
            </a:r>
            <a:endParaRPr b="1" sz="1200"/>
          </a:p>
        </p:txBody>
      </p:sp>
      <p:sp>
        <p:nvSpPr>
          <p:cNvPr id="259" name="Google Shape;259;p43"/>
          <p:cNvSpPr txBox="1"/>
          <p:nvPr/>
        </p:nvSpPr>
        <p:spPr>
          <a:xfrm>
            <a:off x="5072650" y="1041275"/>
            <a:ext cx="39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</a:t>
            </a:r>
            <a:r>
              <a:rPr lang="en" sz="1200"/>
              <a:t>hang‘s BSD64 dataset</a:t>
            </a:r>
            <a:endParaRPr sz="12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/>
              <a:t> </a:t>
            </a:r>
            <a:r>
              <a:rPr lang="en" sz="1200"/>
              <a:t>Real-world dataset: photo </a:t>
            </a:r>
            <a:r>
              <a:rPr lang="en" sz="1200"/>
              <a:t>for my </a:t>
            </a:r>
            <a:r>
              <a:rPr lang="en" sz="1200"/>
              <a:t>bicycle in gradhousing</a:t>
            </a:r>
            <a:endParaRPr sz="1200"/>
          </a:p>
        </p:txBody>
      </p:sp>
      <p:pic>
        <p:nvPicPr>
          <p:cNvPr id="260" name="Google Shape;26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175" y="1502975"/>
            <a:ext cx="4629825" cy="341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50375" y="2253425"/>
            <a:ext cx="4905524" cy="143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00" y="3490975"/>
            <a:ext cx="4532201" cy="14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/>
          <p:nvPr/>
        </p:nvSpPr>
        <p:spPr>
          <a:xfrm>
            <a:off x="309206" y="731375"/>
            <a:ext cx="457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</a:t>
            </a:r>
            <a:r>
              <a:rPr b="1" lang="en" sz="1600"/>
              <a:t>3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</a:t>
            </a:r>
            <a:r>
              <a:rPr b="1" lang="en" sz="1600"/>
              <a:t>noising</a:t>
            </a:r>
            <a:endParaRPr/>
          </a:p>
        </p:txBody>
      </p:sp>
      <p:sp>
        <p:nvSpPr>
          <p:cNvPr id="268" name="Google Shape;268;p44"/>
          <p:cNvSpPr txBox="1"/>
          <p:nvPr/>
        </p:nvSpPr>
        <p:spPr>
          <a:xfrm>
            <a:off x="0" y="1070075"/>
            <a:ext cx="351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269" name="Google Shape;269;p44"/>
          <p:cNvSpPr txBox="1"/>
          <p:nvPr/>
        </p:nvSpPr>
        <p:spPr>
          <a:xfrm>
            <a:off x="42950" y="1034275"/>
            <a:ext cx="3269700" cy="3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100"/>
            </a:br>
            <a:r>
              <a:rPr b="1" lang="en" sz="1100"/>
              <a:t>Wavelet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Traditional baseline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Lowest</a:t>
            </a:r>
            <a:r>
              <a:rPr lang="en" sz="1100"/>
              <a:t> PSNR and SSIM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Limited structural detail preservation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  </a:t>
            </a:r>
            <a:r>
              <a:rPr b="1" lang="en" sz="1100"/>
              <a:t>SVR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Learning-based improvement over wavelet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PSNR gain of </a:t>
            </a:r>
            <a:r>
              <a:rPr b="1" lang="en" sz="1100"/>
              <a:t>4–10 dB</a:t>
            </a:r>
            <a:endParaRPr b="1"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Best structure recovery at low noise (SSIM = 0.67)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  </a:t>
            </a:r>
            <a:r>
              <a:rPr b="1" lang="en" sz="1100"/>
              <a:t>DnCNN</a:t>
            </a:r>
            <a:endParaRPr b="1" sz="1100"/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Clearly superior performance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Near-perfect structure recovery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SSIM = </a:t>
            </a:r>
            <a:r>
              <a:rPr b="1" lang="en" sz="1100"/>
              <a:t>0.963</a:t>
            </a:r>
            <a:r>
              <a:rPr lang="en" sz="1100"/>
              <a:t> at σ = 25</a:t>
            </a:r>
            <a:endParaRPr b="1" sz="1600"/>
          </a:p>
        </p:txBody>
      </p:sp>
      <p:graphicFrame>
        <p:nvGraphicFramePr>
          <p:cNvPr id="270" name="Google Shape;270;p44"/>
          <p:cNvGraphicFramePr/>
          <p:nvPr/>
        </p:nvGraphicFramePr>
        <p:xfrm>
          <a:off x="4081975" y="77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{122F5010-77A9-4283-B61E-E8D6CD8B7724}</a:tableStyleId>
              </a:tblPr>
              <a:tblGrid>
                <a:gridCol w="769825"/>
                <a:gridCol w="587775"/>
                <a:gridCol w="1291825"/>
                <a:gridCol w="1118725"/>
                <a:gridCol w="1104400"/>
              </a:tblGrid>
              <a:tr h="52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Method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Noise σ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Noisy PSNR (dB)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Denoised PSNR (dB)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SSIM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42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Wavelet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27.21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21.90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2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Wavelet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22.34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21.77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0.499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2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Wavelet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17.93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21.36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0.485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SVR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28.12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32.28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0.670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SVR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23.71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30.71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0.609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SVR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17.82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28.19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0.504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2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DnCNN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15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26.55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40.56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0.981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42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DnCNN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25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20.22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37.88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0.963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42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DnCNN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50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17.80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34.03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0.923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1" name="Google Shape;271;p44"/>
          <p:cNvSpPr txBox="1"/>
          <p:nvPr>
            <p:ph type="title"/>
          </p:nvPr>
        </p:nvSpPr>
        <p:spPr>
          <a:xfrm>
            <a:off x="222386" y="279708"/>
            <a:ext cx="81051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35947"/>
              <a:buNone/>
            </a:pPr>
            <a:r>
              <a:rPr lang="en"/>
              <a:t>Comparison &amp; Discussion </a:t>
            </a:r>
            <a:endParaRPr/>
          </a:p>
        </p:txBody>
      </p:sp>
      <p:cxnSp>
        <p:nvCxnSpPr>
          <p:cNvPr id="272" name="Google Shape;272;p44"/>
          <p:cNvCxnSpPr/>
          <p:nvPr/>
        </p:nvCxnSpPr>
        <p:spPr>
          <a:xfrm flipH="1">
            <a:off x="7260875" y="1427100"/>
            <a:ext cx="7800" cy="2393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73" name="Google Shape;273;p44"/>
          <p:cNvSpPr txBox="1"/>
          <p:nvPr/>
        </p:nvSpPr>
        <p:spPr>
          <a:xfrm>
            <a:off x="7204300" y="2479250"/>
            <a:ext cx="11661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19.66dB!</a:t>
            </a:r>
            <a:endParaRPr b="1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type="title"/>
          </p:nvPr>
        </p:nvSpPr>
        <p:spPr>
          <a:xfrm>
            <a:off x="222386" y="279708"/>
            <a:ext cx="81051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35947"/>
              <a:buNone/>
            </a:pPr>
            <a:r>
              <a:rPr lang="en"/>
              <a:t>Conclusion &amp; </a:t>
            </a:r>
            <a:r>
              <a:rPr lang="en"/>
              <a:t>Future Work </a:t>
            </a:r>
            <a:endParaRPr/>
          </a:p>
        </p:txBody>
      </p:sp>
      <p:sp>
        <p:nvSpPr>
          <p:cNvPr id="279" name="Google Shape;279;p45"/>
          <p:cNvSpPr txBox="1"/>
          <p:nvPr/>
        </p:nvSpPr>
        <p:spPr>
          <a:xfrm>
            <a:off x="3032481" y="655100"/>
            <a:ext cx="457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</a:t>
            </a:r>
            <a:r>
              <a:rPr b="1" lang="en" sz="1600"/>
              <a:t>2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</a:t>
            </a:r>
            <a:r>
              <a:rPr b="1" lang="en" sz="1600"/>
              <a:t>blurring</a:t>
            </a:r>
            <a:endParaRPr sz="1200"/>
          </a:p>
        </p:txBody>
      </p:sp>
      <p:sp>
        <p:nvSpPr>
          <p:cNvPr id="280" name="Google Shape;280;p45"/>
          <p:cNvSpPr txBox="1"/>
          <p:nvPr/>
        </p:nvSpPr>
        <p:spPr>
          <a:xfrm>
            <a:off x="0" y="998700"/>
            <a:ext cx="2842500" cy="27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Compared classical and deep dehazing on synthetic and real data.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Both excelled, while </a:t>
            </a:r>
            <a:r>
              <a:rPr lang="en" sz="1300">
                <a:solidFill>
                  <a:srgbClr val="0D0D0D"/>
                </a:solidFill>
                <a:highlight>
                  <a:srgbClr val="FFFFFF"/>
                </a:highlight>
              </a:rPr>
              <a:t>deep learning method better preserves global color fidelity </a:t>
            </a: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for real haze.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Future Work</a:t>
            </a:r>
            <a:endParaRPr b="1" sz="135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76200" lvl="0" marL="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b="1" lang="en" sz="1100"/>
              <a:t>Fine-tuning</a:t>
            </a:r>
            <a:r>
              <a:rPr lang="en" sz="1100"/>
              <a:t>: Real-world haze data → Optimal parameters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b="1" lang="en" sz="1100"/>
              <a:t>Stronger Models</a:t>
            </a:r>
            <a:r>
              <a:rPr lang="en" sz="1100"/>
              <a:t>: Attention-based dehazing networks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281" name="Google Shape;281;p45"/>
          <p:cNvSpPr txBox="1"/>
          <p:nvPr/>
        </p:nvSpPr>
        <p:spPr>
          <a:xfrm>
            <a:off x="6115375" y="311615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Lightweight Models</a:t>
            </a:r>
            <a:b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</a:b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→ Efficient / Compressed Networks ↓ Cost</a:t>
            </a:r>
            <a:b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</a:b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Real-Noise Generalization</a:t>
            </a:r>
            <a:b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</a:b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→ Gaussian → Real-world / Non-Gaussian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282" name="Google Shape;282;p45"/>
          <p:cNvSpPr txBox="1"/>
          <p:nvPr/>
        </p:nvSpPr>
        <p:spPr>
          <a:xfrm>
            <a:off x="6115381" y="671938"/>
            <a:ext cx="457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</a:t>
            </a:r>
            <a:r>
              <a:rPr b="1" lang="en" sz="1600"/>
              <a:t>3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</a:t>
            </a:r>
            <a:r>
              <a:rPr b="1" lang="en" sz="1600"/>
              <a:t>noising</a:t>
            </a:r>
            <a:endParaRPr sz="1200"/>
          </a:p>
        </p:txBody>
      </p:sp>
      <p:sp>
        <p:nvSpPr>
          <p:cNvPr id="283" name="Google Shape;283;p45"/>
          <p:cNvSpPr txBox="1"/>
          <p:nvPr/>
        </p:nvSpPr>
        <p:spPr>
          <a:xfrm>
            <a:off x="0" y="671950"/>
            <a:ext cx="24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</a:t>
            </a:r>
            <a:r>
              <a:rPr b="1" lang="en" sz="1600"/>
              <a:t>1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</a:t>
            </a:r>
            <a:r>
              <a:rPr b="1" lang="en" sz="1600"/>
              <a:t>hazing</a:t>
            </a:r>
            <a:endParaRPr sz="1200"/>
          </a:p>
        </p:txBody>
      </p:sp>
      <p:sp>
        <p:nvSpPr>
          <p:cNvPr id="284" name="Google Shape;284;p45"/>
          <p:cNvSpPr txBox="1"/>
          <p:nvPr/>
        </p:nvSpPr>
        <p:spPr>
          <a:xfrm>
            <a:off x="6115375" y="1024825"/>
            <a:ext cx="2883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Learning-based methods outperform wavelet denoising.</a:t>
            </a:r>
            <a:b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</a:b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SVR balances performance and complexity.</a:t>
            </a:r>
            <a:b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</a:b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DnCNN delivers the best quality at higher cost.</a:t>
            </a:r>
            <a:endParaRPr sz="1200"/>
          </a:p>
        </p:txBody>
      </p:sp>
      <p:sp>
        <p:nvSpPr>
          <p:cNvPr id="285" name="Google Shape;285;p45"/>
          <p:cNvSpPr txBox="1"/>
          <p:nvPr/>
        </p:nvSpPr>
        <p:spPr>
          <a:xfrm>
            <a:off x="3032475" y="993800"/>
            <a:ext cx="2647500" cy="3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•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Both methods effectively enhance blurred images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•"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</a:rPr>
              <a:t> Their complementary strengths provide valuable insight for future deblurring research.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Future Work</a:t>
            </a:r>
            <a:endParaRPr b="1" sz="135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" sz="1100"/>
              <a:t> </a:t>
            </a:r>
            <a:r>
              <a:rPr b="1" lang="en" sz="1100"/>
              <a:t>Blur Diversity ↑</a:t>
            </a:r>
            <a:r>
              <a:rPr lang="en" sz="1100"/>
              <a:t>: More challenging blur types</a:t>
            </a:r>
            <a:br>
              <a:rPr lang="en" sz="1100"/>
            </a:b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100"/>
              <a:t> </a:t>
            </a:r>
            <a:r>
              <a:rPr b="1" lang="en" sz="1100"/>
              <a:t>Efficiency ↑</a:t>
            </a:r>
            <a:r>
              <a:rPr lang="en" sz="1100"/>
              <a:t>: Reduced computation</a:t>
            </a:r>
            <a:br>
              <a:rPr lang="en" sz="1100"/>
            </a:b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100"/>
              <a:t> </a:t>
            </a:r>
            <a:r>
              <a:rPr b="1" lang="en" sz="1100"/>
              <a:t>Hybrid</a:t>
            </a:r>
            <a:r>
              <a:rPr lang="en" sz="1100"/>
              <a:t>: Classical priors + Deep learning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286" name="Google Shape;286;p45"/>
          <p:cNvSpPr txBox="1"/>
          <p:nvPr/>
        </p:nvSpPr>
        <p:spPr>
          <a:xfrm>
            <a:off x="6075675" y="27012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b="1" lang="en" sz="1500"/>
              <a:t>Future Work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3412922" y="2149964"/>
            <a:ext cx="2318156" cy="843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3600"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 and Gold">
  <a:themeElements>
    <a:clrScheme name="Blue &amp; Gold">
      <a:dk1>
        <a:srgbClr val="182B48"/>
      </a:dk1>
      <a:lt1>
        <a:srgbClr val="FFCC00"/>
      </a:lt1>
      <a:dk2>
        <a:srgbClr val="182B48"/>
      </a:dk2>
      <a:lt2>
        <a:srgbClr val="FEFFFF"/>
      </a:lt2>
      <a:accent1>
        <a:srgbClr val="00629B"/>
      </a:accent1>
      <a:accent2>
        <a:srgbClr val="FFCC00"/>
      </a:accent2>
      <a:accent3>
        <a:srgbClr val="182B48"/>
      </a:accent3>
      <a:accent4>
        <a:srgbClr val="C59114"/>
      </a:accent4>
      <a:accent5>
        <a:srgbClr val="747578"/>
      </a:accent5>
      <a:accent6>
        <a:srgbClr val="FFCC00"/>
      </a:accent6>
      <a:hlink>
        <a:srgbClr val="00629B"/>
      </a:hlink>
      <a:folHlink>
        <a:srgbClr val="7475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